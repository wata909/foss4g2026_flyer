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71" r:id="rId2"/>
    <p:sldId id="272" r:id="rId3"/>
    <p:sldId id="274" r:id="rId4"/>
    <p:sldId id="273" r:id="rId5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80"/>
    <p:restoredTop sz="94694"/>
  </p:normalViewPr>
  <p:slideViewPr>
    <p:cSldViewPr snapToGrid="0">
      <p:cViewPr varScale="1">
        <p:scale>
          <a:sx n="117" d="100"/>
          <a:sy n="117" d="100"/>
        </p:scale>
        <p:origin x="4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46760-C4E3-F74A-B7CE-B49B82DA3EEA}" type="datetimeFigureOut">
              <a:rPr lang="en-JP" smtClean="0"/>
              <a:t>2025/03/20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BA4B4-F7F6-B349-88BF-796D3B73D62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3944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7BDAAD2D-5785-1214-738D-B45AB975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>
            <a:extLst>
              <a:ext uri="{FF2B5EF4-FFF2-40B4-BE49-F238E27FC236}">
                <a16:creationId xmlns:a16="http://schemas.microsoft.com/office/drawing/2014/main" id="{58029028-E7A8-F99B-17BA-77724B658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>
            <a:extLst>
              <a:ext uri="{FF2B5EF4-FFF2-40B4-BE49-F238E27FC236}">
                <a16:creationId xmlns:a16="http://schemas.microsoft.com/office/drawing/2014/main" id="{31E74BD8-5F69-9AE9-1D2E-7B35330144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0520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45F5AB40-F503-2692-7C6A-FD2C123F5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>
            <a:extLst>
              <a:ext uri="{FF2B5EF4-FFF2-40B4-BE49-F238E27FC236}">
                <a16:creationId xmlns:a16="http://schemas.microsoft.com/office/drawing/2014/main" id="{6EC792BA-EA59-DAA6-C35A-371BEE616B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>
            <a:extLst>
              <a:ext uri="{FF2B5EF4-FFF2-40B4-BE49-F238E27FC236}">
                <a16:creationId xmlns:a16="http://schemas.microsoft.com/office/drawing/2014/main" id="{291EAB20-E302-C2EA-D03F-D2FFBC85B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1377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327DB239-C8AD-3E40-73D1-AE39C5C73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>
            <a:extLst>
              <a:ext uri="{FF2B5EF4-FFF2-40B4-BE49-F238E27FC236}">
                <a16:creationId xmlns:a16="http://schemas.microsoft.com/office/drawing/2014/main" id="{96C07EAD-BE51-9CF4-5D92-13B6DE558A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>
            <a:extLst>
              <a:ext uri="{FF2B5EF4-FFF2-40B4-BE49-F238E27FC236}">
                <a16:creationId xmlns:a16="http://schemas.microsoft.com/office/drawing/2014/main" id="{05BCCECC-8D9E-7D8F-00A6-8F42C5732B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8245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ED5D727C-5538-74A8-510D-18A9DE89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>
            <a:extLst>
              <a:ext uri="{FF2B5EF4-FFF2-40B4-BE49-F238E27FC236}">
                <a16:creationId xmlns:a16="http://schemas.microsoft.com/office/drawing/2014/main" id="{7B6E32CE-956A-B487-AB47-96DE79CF99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>
            <a:extLst>
              <a:ext uri="{FF2B5EF4-FFF2-40B4-BE49-F238E27FC236}">
                <a16:creationId xmlns:a16="http://schemas.microsoft.com/office/drawing/2014/main" id="{05BE5A7D-2E48-2A27-A733-EB7A9C7BFF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8919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5F711-32E7-954C-29D8-35B5557D9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E1767-EFD7-E9E7-A904-4029CA3F3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5105D-349E-F900-CCB6-C3E6705F9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255C-3B8C-9449-9E43-E73F2BA38242}" type="datetimeFigureOut">
              <a:rPr lang="en-JP" smtClean="0"/>
              <a:t>2025/03/20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E5A06-E28F-F93B-0E46-C4CC8CF8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0A31F-3EF2-0ADA-24B5-D1D684BC2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5F3-7037-F24D-81DD-01CFE74CF9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4785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B87A1-D1F9-7E18-58D4-D3381061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12677-0CAA-B3A1-6A40-1B40E4254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7A684-6D3F-0CA4-C68A-FF6C33A89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255C-3B8C-9449-9E43-E73F2BA38242}" type="datetimeFigureOut">
              <a:rPr lang="en-JP" smtClean="0"/>
              <a:t>2025/03/20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3B02E-BCC5-88AF-5B14-F0083CBF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65650-9620-67EF-AD4C-C3C3DD3DB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5F3-7037-F24D-81DD-01CFE74CF9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73863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133F8-BBCB-2C0E-8A2A-CC5D8573B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7F162-6329-D30C-EB99-851E6D796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83B6B-09E1-4344-3F50-3153C443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255C-3B8C-9449-9E43-E73F2BA38242}" type="datetimeFigureOut">
              <a:rPr lang="en-JP" smtClean="0"/>
              <a:t>2025/03/20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67403-53B0-671E-7FD8-A58A3B55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61175-8916-FA2D-0808-039722439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5F3-7037-F24D-81DD-01CFE74CF9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83938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8ECB-3816-2940-F1DF-C75CB904C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9AA45-B7D8-51FE-8257-A6F153465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E4F29-790D-A96E-462C-CA3306060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D9FA7-06B8-5BC3-35B6-B9AB65E57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255C-3B8C-9449-9E43-E73F2BA38242}" type="datetimeFigureOut">
              <a:rPr lang="en-JP" smtClean="0"/>
              <a:t>2025/03/20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F0840-E14B-4061-F612-B2882CA2A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4CC56-C89A-64B4-8350-149957394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5F3-7037-F24D-81DD-01CFE74CF9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29764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5530-1DC6-9848-00DD-39C36322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33CB7-EF3E-B948-2DA5-26DCEC444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AA0D1-0314-9AB6-ECA7-DB24AD282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25B96-BBAE-956E-79C8-B4681310B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FA99F-F87B-9A0D-8442-AEDAADBB0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0B478-CF52-8615-2652-E68EC504B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255C-3B8C-9449-9E43-E73F2BA38242}" type="datetimeFigureOut">
              <a:rPr lang="en-JP" smtClean="0"/>
              <a:t>2025/03/20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A392C4-6AF5-8DD4-F33B-3970AF70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07A18-7F21-9EE1-0CF5-5352FE37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5F3-7037-F24D-81DD-01CFE74CF9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789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568A-460F-E150-D4B2-347AD3C5C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44512-FC40-40E1-8A79-1FB438044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255C-3B8C-9449-9E43-E73F2BA38242}" type="datetimeFigureOut">
              <a:rPr lang="en-JP" smtClean="0"/>
              <a:t>2025/03/20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CCDED-1FCA-D6D9-DAA0-EB4D3E7DC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B5DF4-0189-EA3B-C8F5-79AED7E1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5F3-7037-F24D-81DD-01CFE74CF9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03911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FF40E4-C2D2-FA27-4289-9CA88CC26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255C-3B8C-9449-9E43-E73F2BA38242}" type="datetimeFigureOut">
              <a:rPr lang="en-JP" smtClean="0"/>
              <a:t>2025/03/20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F110E-813C-7E6E-6FA1-B1EED0DD1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B0B94-0ED6-8E3E-1E40-11F1BF50D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5F3-7037-F24D-81DD-01CFE74CF9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65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69533-40F4-1FA4-CAA2-A0249DC6C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49C1A-0740-2F7E-1221-845AE4FF9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E1D40-ABD4-FEC0-27C3-9721C9DEB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5FFD7-6A34-8341-214A-5D3E70EBC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255C-3B8C-9449-9E43-E73F2BA38242}" type="datetimeFigureOut">
              <a:rPr lang="en-JP" smtClean="0"/>
              <a:t>2025/03/20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BE413-9D75-43AF-9C26-4E100BEA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358D2-7306-35DE-AB7F-81C9AD8A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5F3-7037-F24D-81DD-01CFE74CF9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74391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7B8A-FBFE-050A-1F8F-22196B41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F25FC9-BBE1-C594-4288-A38AD67DD8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72124-AC51-1723-9305-49706DFF7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F0C21-8506-6FB0-1440-4AC4018A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255C-3B8C-9449-9E43-E73F2BA38242}" type="datetimeFigureOut">
              <a:rPr lang="en-JP" smtClean="0"/>
              <a:t>2025/03/20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68671-A47A-E4E0-939A-612AB865E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4E344-A203-CBC7-A565-F26E00CE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5F3-7037-F24D-81DD-01CFE74CF9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31581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285AF-7012-1104-5C60-2BEB60ED0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D92ACD-11C0-C422-25CB-92339EBA0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B3DDA-E9D8-62FF-D042-6AE4FAC39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255C-3B8C-9449-9E43-E73F2BA38242}" type="datetimeFigureOut">
              <a:rPr lang="en-JP" smtClean="0"/>
              <a:t>2025/03/20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F0D79-55DB-19D7-1B80-BDB80A7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D260E-9405-53F5-8B2F-A592EA688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5F3-7037-F24D-81DD-01CFE74CF9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28381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34644B-832B-1115-A79A-97788E621A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AB63F-7ED8-A123-7E06-9106ACF50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81184-5575-18F0-ACF9-497F6E30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255C-3B8C-9449-9E43-E73F2BA38242}" type="datetimeFigureOut">
              <a:rPr lang="en-JP" smtClean="0"/>
              <a:t>2025/03/20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078FB-A344-FF37-01E6-12731913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6905B-7158-BA2E-0179-0F0FB86E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1A5F3-7037-F24D-81DD-01CFE74CF9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77870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/>
          <p:nvPr/>
        </p:nvSpPr>
        <p:spPr>
          <a:xfrm>
            <a:off x="0" y="4"/>
            <a:ext cx="12192000" cy="696685"/>
          </a:xfrm>
          <a:prstGeom prst="rect">
            <a:avLst/>
          </a:prstGeom>
          <a:solidFill>
            <a:srgbClr val="00B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" name="Google Shape;24;p21"/>
          <p:cNvSpPr txBox="1">
            <a:spLocks noGrp="1"/>
          </p:cNvSpPr>
          <p:nvPr>
            <p:ph type="title"/>
          </p:nvPr>
        </p:nvSpPr>
        <p:spPr>
          <a:xfrm>
            <a:off x="14784" y="95484"/>
            <a:ext cx="10992544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iryo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body" idx="1"/>
          </p:nvPr>
        </p:nvSpPr>
        <p:spPr>
          <a:xfrm>
            <a:off x="609600" y="1025164"/>
            <a:ext cx="10972800" cy="5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Meiryo"/>
                <a:ea typeface="Meiryo"/>
                <a:cs typeface="Meiryo"/>
                <a:sym typeface="Meiryo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>
                <a:latin typeface="Meiryo"/>
                <a:ea typeface="Meiryo"/>
                <a:cs typeface="Meiryo"/>
                <a:sym typeface="Meiryo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Meiryo"/>
                <a:ea typeface="Meiryo"/>
                <a:cs typeface="Meiryo"/>
                <a:sym typeface="Meiryo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Meiryo"/>
                <a:ea typeface="Meiryo"/>
                <a:cs typeface="Meiryo"/>
                <a:sym typeface="Meiryo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Meiryo"/>
                <a:ea typeface="Meiryo"/>
                <a:cs typeface="Meiryo"/>
                <a:sym typeface="Meiryo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10990064" y="6513762"/>
            <a:ext cx="1184672" cy="332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BFBFB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BFBFB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BFBFB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BFBFB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BFBFB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BFBFB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BFBFB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BFBFB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BFBFB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431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528E4F-68BA-5AC1-418E-5EE865BB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EF4A5-EB8A-22E0-F0BD-E1C4FC6EA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69819-C84E-E7E0-8305-7E7218E7E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44255C-3B8C-9449-9E43-E73F2BA38242}" type="datetimeFigureOut">
              <a:rPr lang="en-JP" smtClean="0"/>
              <a:t>2025/03/20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52EAC-5F0B-55C5-B9D8-EC46B7871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CF1C9-6842-B4E8-048F-082A2D1DB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1A5F3-7037-F24D-81DD-01CFE74CF935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21629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pcf.city.hiroshima.jp/icch/profile.html" TargetMode="Externa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pcf.city.hiroshima.jp/icch/profile.html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pcf.city.hiroshima.jp/icch/profile.html" TargetMode="Externa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2D80DD95-F4DF-503F-CC73-2F819E81C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>
            <a:extLst>
              <a:ext uri="{FF2B5EF4-FFF2-40B4-BE49-F238E27FC236}">
                <a16:creationId xmlns:a16="http://schemas.microsoft.com/office/drawing/2014/main" id="{9801B34D-A010-C902-5EB7-9BEB7D376D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84" y="95484"/>
            <a:ext cx="10992544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iryo"/>
              <a:buNone/>
            </a:pPr>
            <a:r>
              <a:rPr lang="en-US" altLang="ja-JP" dirty="0"/>
              <a:t>FOSS4G 2026 Hiroshima</a:t>
            </a:r>
            <a:endParaRPr dirty="0"/>
          </a:p>
        </p:txBody>
      </p:sp>
      <p:sp>
        <p:nvSpPr>
          <p:cNvPr id="239" name="Google Shape;239;p10">
            <a:extLst>
              <a:ext uri="{FF2B5EF4-FFF2-40B4-BE49-F238E27FC236}">
                <a16:creationId xmlns:a16="http://schemas.microsoft.com/office/drawing/2014/main" id="{75B7E182-1B10-2FF3-A19C-E749DCFCA8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025164"/>
            <a:ext cx="6291943" cy="5737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65" lvl="0" indent="-3428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ja-JP"/>
              <a:t>FOSS4G </a:t>
            </a:r>
            <a:r>
              <a:rPr lang="en-US" altLang="ja-JP" dirty="0"/>
              <a:t>is an annual conference organized by </a:t>
            </a:r>
            <a:r>
              <a:rPr lang="ja-JP"/>
              <a:t>OSGeo</a:t>
            </a:r>
            <a:r>
              <a:rPr lang="en-US" altLang="ja-JP" dirty="0"/>
              <a:t> and LOC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  <a:buSzPts val="3200"/>
            </a:pP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FOSS4G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は、</a:t>
            </a: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OSGeo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財団と現地実行委員回により開催される国際会議</a:t>
            </a:r>
            <a:endParaRPr lang="en-US" altLang="ja-JP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342865" indent="-34286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Largest conferences about open source geospatial technology.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地理空間オープンソースに関する世界最大の会議</a:t>
            </a:r>
            <a:endParaRPr lang="en-US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342865" indent="-342865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Around 500 to 1200 participant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500から1200人の参加者。開催場所による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</a:pPr>
            <a:r>
              <a:rPr lang="en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１５０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</a:t>
            </a:r>
            <a:r>
              <a:rPr lang="en-US" dirty="0"/>
              <a:t>participant in Japanese FOSS4G </a:t>
            </a:r>
          </a:p>
          <a:p>
            <a:pPr marL="1257265" lvl="2" indent="-342865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国内のFOSS4Gでは150人程度</a:t>
            </a:r>
            <a:endParaRPr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40" name="Google Shape;240;p10">
            <a:extLst>
              <a:ext uri="{FF2B5EF4-FFF2-40B4-BE49-F238E27FC236}">
                <a16:creationId xmlns:a16="http://schemas.microsoft.com/office/drawing/2014/main" id="{CC42FA03-EDD9-9443-569D-D5CE54A626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90064" y="6513762"/>
            <a:ext cx="1184672" cy="332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</a:t>
            </a:fld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BB2E0D2-045E-2905-B96F-B500EB414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336" y="753406"/>
            <a:ext cx="4572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C3133C9-31B8-E9AD-4A20-8F6049907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336" y="3547406"/>
            <a:ext cx="4572000" cy="305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04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4AE5AF03-EAD5-77B0-A3FC-E2739D6F6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>
            <a:extLst>
              <a:ext uri="{FF2B5EF4-FFF2-40B4-BE49-F238E27FC236}">
                <a16:creationId xmlns:a16="http://schemas.microsoft.com/office/drawing/2014/main" id="{AFAC17DD-2E60-E4EB-C841-9303D8CABE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84" y="95484"/>
            <a:ext cx="10992544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iryo"/>
              <a:buNone/>
            </a:pPr>
            <a:r>
              <a:rPr lang="en-US" altLang="ja-JP" dirty="0"/>
              <a:t>FOSS4G 2026 Hiroshima</a:t>
            </a:r>
            <a:endParaRPr dirty="0"/>
          </a:p>
        </p:txBody>
      </p:sp>
      <p:sp>
        <p:nvSpPr>
          <p:cNvPr id="239" name="Google Shape;239;p10">
            <a:extLst>
              <a:ext uri="{FF2B5EF4-FFF2-40B4-BE49-F238E27FC236}">
                <a16:creationId xmlns:a16="http://schemas.microsoft.com/office/drawing/2014/main" id="{BEECE585-C4C4-2995-544A-BC883A3522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025164"/>
            <a:ext cx="5845629" cy="5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65" lvl="0" indent="-3428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altLang="ja-JP" dirty="0"/>
              <a:t>FOSS4G 2026 will be held at the Hiroshima International Conference Center.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  <a:buSzPts val="3200"/>
            </a:pP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FOSS4G 2026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は広島国際会議場で開催</a:t>
            </a:r>
            <a:endParaRPr lang="en-US" altLang="ja-JP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342865" indent="-342865">
              <a:lnSpc>
                <a:spcPct val="100000"/>
              </a:lnSpc>
              <a:spcBef>
                <a:spcPts val="600"/>
              </a:spcBef>
            </a:pPr>
            <a:r>
              <a:rPr lang="en-US" altLang="ja-JP" dirty="0"/>
              <a:t>Date: From 30 Aug. to 5 Sep. Call for presentations will be start Dec. 2025. 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</a:pP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日程：</a:t>
            </a:r>
            <a:r>
              <a:rPr lang="en-JP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8</a:t>
            </a:r>
            <a:r>
              <a:rPr lang="ja-JP" altLang="en-JP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月</a:t>
            </a:r>
            <a:r>
              <a:rPr lang="en-JP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30</a:t>
            </a:r>
            <a:r>
              <a:rPr lang="ja-JP" altLang="en-JP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日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から</a:t>
            </a:r>
            <a:r>
              <a:rPr lang="en-JP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9</a:t>
            </a:r>
            <a:r>
              <a:rPr lang="ja-JP" altLang="en-JP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月</a:t>
            </a:r>
            <a:r>
              <a:rPr lang="en-JP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5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日。</a:t>
            </a: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2025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年</a:t>
            </a:r>
            <a:r>
              <a:rPr lang="en-JP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12</a:t>
            </a:r>
            <a:r>
              <a:rPr lang="ja-JP" altLang="en-JP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月頃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から募集開始予定</a:t>
            </a:r>
          </a:p>
        </p:txBody>
      </p:sp>
      <p:sp>
        <p:nvSpPr>
          <p:cNvPr id="240" name="Google Shape;240;p10">
            <a:extLst>
              <a:ext uri="{FF2B5EF4-FFF2-40B4-BE49-F238E27FC236}">
                <a16:creationId xmlns:a16="http://schemas.microsoft.com/office/drawing/2014/main" id="{37A89FBA-4705-9F42-C974-0E95A7F0CF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90064" y="6513762"/>
            <a:ext cx="1184672" cy="332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</a:t>
            </a:fld>
            <a:endParaRPr/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374D945C-74B1-D1F2-90D1-A3B4D0E4E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799" y="4396116"/>
            <a:ext cx="2117646" cy="21176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EC89ED-FB33-7651-0CFC-0CC2FC037D42}"/>
              </a:ext>
            </a:extLst>
          </p:cNvPr>
          <p:cNvSpPr txBox="1"/>
          <p:nvPr/>
        </p:nvSpPr>
        <p:spPr>
          <a:xfrm>
            <a:off x="6734194" y="6393184"/>
            <a:ext cx="5056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FOSS4G 2026 Flyer ( will be updated)</a:t>
            </a:r>
            <a:endParaRPr lang="en-JP" dirty="0"/>
          </a:p>
        </p:txBody>
      </p:sp>
      <p:pic>
        <p:nvPicPr>
          <p:cNvPr id="8" name="Picture 7" descr="A building with glass windows and yellow flowers&#10;&#10;AI-generated content may be incorrect.">
            <a:extLst>
              <a:ext uri="{FF2B5EF4-FFF2-40B4-BE49-F238E27FC236}">
                <a16:creationId xmlns:a16="http://schemas.microsoft.com/office/drawing/2014/main" id="{C8B960E2-C69C-0F91-CC2A-1FCCCEBE0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194" y="923564"/>
            <a:ext cx="5056857" cy="33712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D5E0C7-5EDD-9AD6-0543-6C039EAFDC7F}"/>
              </a:ext>
            </a:extLst>
          </p:cNvPr>
          <p:cNvSpPr txBox="1"/>
          <p:nvPr/>
        </p:nvSpPr>
        <p:spPr>
          <a:xfrm>
            <a:off x="7150100" y="4255384"/>
            <a:ext cx="4640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latin typeface="Zen Kurenaido"/>
              </a:rPr>
              <a:t>© </a:t>
            </a:r>
            <a:r>
              <a:rPr lang="en-US" altLang="ja-JP" sz="1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Hiroshima International Conference Center</a:t>
            </a:r>
            <a:endParaRPr lang="en-US" altLang="ja-JP" sz="1200" dirty="0"/>
          </a:p>
        </p:txBody>
      </p:sp>
    </p:spTree>
    <p:extLst>
      <p:ext uri="{BB962C8B-B14F-4D97-AF65-F5344CB8AC3E}">
        <p14:creationId xmlns:p14="http://schemas.microsoft.com/office/powerpoint/2010/main" val="55375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3AFFF3B9-C610-BC77-EB29-64AB57CDA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>
            <a:extLst>
              <a:ext uri="{FF2B5EF4-FFF2-40B4-BE49-F238E27FC236}">
                <a16:creationId xmlns:a16="http://schemas.microsoft.com/office/drawing/2014/main" id="{F03A0DF2-F2C6-ECA1-78CA-C3AC6A4E1C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84" y="95484"/>
            <a:ext cx="10992544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iryo"/>
              <a:buNone/>
            </a:pPr>
            <a:r>
              <a:rPr lang="en-US" altLang="ja-JP" dirty="0"/>
              <a:t>FOSS4G 2026 Hiroshima</a:t>
            </a:r>
            <a:endParaRPr dirty="0"/>
          </a:p>
        </p:txBody>
      </p:sp>
      <p:sp>
        <p:nvSpPr>
          <p:cNvPr id="239" name="Google Shape;239;p10">
            <a:extLst>
              <a:ext uri="{FF2B5EF4-FFF2-40B4-BE49-F238E27FC236}">
                <a16:creationId xmlns:a16="http://schemas.microsoft.com/office/drawing/2014/main" id="{C4F5357E-676F-8B54-0492-D709548F3B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025164"/>
            <a:ext cx="6124593" cy="548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865" indent="-342865">
              <a:lnSpc>
                <a:spcPct val="100000"/>
              </a:lnSpc>
              <a:spcBef>
                <a:spcPts val="0"/>
              </a:spcBef>
            </a:pP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FOSS4G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の今を知るための多彩なプログラム</a:t>
            </a:r>
            <a:endParaRPr lang="en-US" altLang="ja-JP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342865" indent="-342865">
              <a:lnSpc>
                <a:spcPct val="100000"/>
              </a:lnSpc>
              <a:spcBef>
                <a:spcPts val="600"/>
              </a:spcBef>
            </a:pPr>
            <a:r>
              <a:rPr lang="en-US" altLang="ja-JP" i="0" dirty="0">
                <a:effectLst/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Hands on</a:t>
            </a:r>
            <a:r>
              <a:rPr lang="ja-JP" altLang="en-US" b="0" i="0">
                <a:solidFill>
                  <a:srgbClr val="333333"/>
                </a:solidFill>
                <a:effectLst/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：</a:t>
            </a:r>
            <a:r>
              <a:rPr lang="en-US" altLang="ja-JP" b="0" i="0" dirty="0">
                <a:solidFill>
                  <a:srgbClr val="333333"/>
                </a:solidFill>
                <a:effectLst/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30-31 Aug. 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</a:pPr>
            <a:r>
              <a:rPr lang="ja-JP" altLang="en-US">
                <a:solidFill>
                  <a:srgbClr val="333333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各種</a:t>
            </a:r>
            <a:r>
              <a:rPr lang="en-US" altLang="ja-JP" dirty="0">
                <a:solidFill>
                  <a:srgbClr val="333333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FOSS4G</a:t>
            </a:r>
            <a:r>
              <a:rPr lang="ja-JP" altLang="en-US">
                <a:solidFill>
                  <a:srgbClr val="333333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</a:t>
            </a:r>
            <a:r>
              <a:rPr lang="ja-JP" altLang="en-US" b="0" i="0">
                <a:solidFill>
                  <a:srgbClr val="333333"/>
                </a:solidFill>
                <a:effectLst/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操作</a:t>
            </a:r>
            <a:r>
              <a:rPr lang="ja-JP" altLang="en-US">
                <a:solidFill>
                  <a:srgbClr val="333333"/>
                </a:solidFill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実習</a:t>
            </a:r>
            <a:endParaRPr lang="en-US" altLang="ja-JP" dirty="0">
              <a:solidFill>
                <a:srgbClr val="333333"/>
              </a:solidFill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342865" indent="-342865">
              <a:lnSpc>
                <a:spcPct val="100000"/>
              </a:lnSpc>
              <a:spcBef>
                <a:spcPts val="600"/>
              </a:spcBef>
            </a:pP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Main Conference: 1-3 Sep. 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</a:pP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プレゼンテーション：</a:t>
            </a: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10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トラック、約</a:t>
            </a: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150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（各</a:t>
            </a: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20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分</a:t>
            </a: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+Q&amp;A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）</a:t>
            </a:r>
            <a:endParaRPr lang="en-US" altLang="ja-JP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</a:pP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学術セッション：</a:t>
            </a: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ISPRS Archives, 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査読付き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</a:pP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ライトニングトーク：</a:t>
            </a: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5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分間プレゼン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</a:pP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ポスターセッション：約</a:t>
            </a: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20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</a:pP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インタラクティブデモ：地理空間技術の実践的な活用を紹介</a:t>
            </a:r>
          </a:p>
          <a:p>
            <a:pPr marL="342865" indent="-342865">
              <a:lnSpc>
                <a:spcPct val="100000"/>
              </a:lnSpc>
              <a:spcBef>
                <a:spcPts val="600"/>
              </a:spcBef>
            </a:pP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Code Sprint: 4-6 Sep.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</a:pP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コミュニティと</a:t>
            </a:r>
            <a:r>
              <a:rPr lang="en-US" altLang="ja-JP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FOSS4G</a:t>
            </a:r>
            <a:r>
              <a:rPr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開発者の共同作業</a:t>
            </a:r>
            <a:endParaRPr lang="en-US" altLang="ja-JP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40" name="Google Shape;240;p10">
            <a:extLst>
              <a:ext uri="{FF2B5EF4-FFF2-40B4-BE49-F238E27FC236}">
                <a16:creationId xmlns:a16="http://schemas.microsoft.com/office/drawing/2014/main" id="{817804E0-35F7-DE41-7657-4EB43A3066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90064" y="6513762"/>
            <a:ext cx="1184672" cy="332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</a:t>
            </a:fld>
            <a:endParaRPr/>
          </a:p>
        </p:txBody>
      </p:sp>
      <p:pic>
        <p:nvPicPr>
          <p:cNvPr id="3" name="Picture 2" descr="A building with glass windows and yellow flowers&#10;&#10;AI-generated content may be incorrect.">
            <a:extLst>
              <a:ext uri="{FF2B5EF4-FFF2-40B4-BE49-F238E27FC236}">
                <a16:creationId xmlns:a16="http://schemas.microsoft.com/office/drawing/2014/main" id="{C63207DD-9C6A-8254-81D4-68D20A2AA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194" y="923564"/>
            <a:ext cx="5056857" cy="3371238"/>
          </a:xfrm>
          <a:prstGeom prst="rect">
            <a:avLst/>
          </a:prstGeom>
        </p:spPr>
      </p:pic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BC8CD86-D74C-2047-7CCD-A17DE94EB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799" y="4396116"/>
            <a:ext cx="2117646" cy="21176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A2C5-3548-180C-902B-89E8DAF41A7E}"/>
              </a:ext>
            </a:extLst>
          </p:cNvPr>
          <p:cNvSpPr txBox="1"/>
          <p:nvPr/>
        </p:nvSpPr>
        <p:spPr>
          <a:xfrm>
            <a:off x="6734194" y="6393184"/>
            <a:ext cx="5056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FOSS4G 2026 Flyer (</a:t>
            </a:r>
            <a:r>
              <a:rPr lang="en-US" dirty="0" err="1"/>
              <a:t>更新予定</a:t>
            </a:r>
            <a:r>
              <a:rPr lang="en-US" dirty="0"/>
              <a:t>)</a:t>
            </a:r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8B2E38-F3AE-B080-CAAF-9BA89B90F0A9}"/>
              </a:ext>
            </a:extLst>
          </p:cNvPr>
          <p:cNvSpPr txBox="1"/>
          <p:nvPr/>
        </p:nvSpPr>
        <p:spPr>
          <a:xfrm>
            <a:off x="7150100" y="4255384"/>
            <a:ext cx="4640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latin typeface="Zen Kurenaido"/>
              </a:rPr>
              <a:t>© </a:t>
            </a:r>
            <a:r>
              <a:rPr lang="en-US" altLang="ja-JP" sz="1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Hiroshima International Conference Center</a:t>
            </a:r>
            <a:endParaRPr lang="en-US" altLang="ja-JP" sz="1200" dirty="0"/>
          </a:p>
        </p:txBody>
      </p:sp>
    </p:spTree>
    <p:extLst>
      <p:ext uri="{BB962C8B-B14F-4D97-AF65-F5344CB8AC3E}">
        <p14:creationId xmlns:p14="http://schemas.microsoft.com/office/powerpoint/2010/main" val="190784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2F23C0CD-A303-88EF-09C8-6E11982E1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>
            <a:extLst>
              <a:ext uri="{FF2B5EF4-FFF2-40B4-BE49-F238E27FC236}">
                <a16:creationId xmlns:a16="http://schemas.microsoft.com/office/drawing/2014/main" id="{D7AE9F3C-69CA-3060-8445-D92AFAC0A5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84" y="95484"/>
            <a:ext cx="10992544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iryo"/>
              <a:buNone/>
            </a:pPr>
            <a:r>
              <a:rPr lang="en-US" altLang="ja-JP" dirty="0"/>
              <a:t>FOSS4G 2026 Hiroshima</a:t>
            </a:r>
            <a:endParaRPr dirty="0"/>
          </a:p>
        </p:txBody>
      </p:sp>
      <p:sp>
        <p:nvSpPr>
          <p:cNvPr id="239" name="Google Shape;239;p10">
            <a:extLst>
              <a:ext uri="{FF2B5EF4-FFF2-40B4-BE49-F238E27FC236}">
                <a16:creationId xmlns:a16="http://schemas.microsoft.com/office/drawing/2014/main" id="{DDE6FAEC-B921-6A12-6AE0-FBDCE6F97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025164"/>
            <a:ext cx="6019800" cy="5832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865" indent="-342865">
              <a:lnSpc>
                <a:spcPct val="100000"/>
              </a:lnSpc>
              <a:spcBef>
                <a:spcPts val="0"/>
              </a:spcBef>
            </a:pPr>
            <a:r>
              <a:rPr lang="en-US" altLang="ja-JP" dirty="0"/>
              <a:t>A diverse Program to understand the current state of FOSS4G. </a:t>
            </a:r>
          </a:p>
          <a:p>
            <a:pPr marL="342865" indent="-342865">
              <a:lnSpc>
                <a:spcPct val="100000"/>
              </a:lnSpc>
              <a:spcBef>
                <a:spcPts val="600"/>
              </a:spcBef>
            </a:pPr>
            <a:r>
              <a:rPr lang="en-US" altLang="ja-JP" dirty="0"/>
              <a:t>Hands-on Workshops: August 30-31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</a:pPr>
            <a:r>
              <a:rPr lang="en-US" altLang="ja-JP" dirty="0"/>
              <a:t>Practical training sessions on various FOSS4G tools</a:t>
            </a:r>
          </a:p>
          <a:p>
            <a:pPr marL="342865" indent="-342865">
              <a:lnSpc>
                <a:spcPct val="100000"/>
              </a:lnSpc>
              <a:spcBef>
                <a:spcPts val="600"/>
              </a:spcBef>
            </a:pPr>
            <a:r>
              <a:rPr lang="en-US" altLang="ja-JP" dirty="0"/>
              <a:t>Main Conference: September 1-3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</a:pPr>
            <a:r>
              <a:rPr lang="en-US" altLang="ja-JP" dirty="0"/>
              <a:t>Presentations: 10 tracks, 150 sessions (each 20 minutes + Q&amp;A)</a:t>
            </a:r>
          </a:p>
          <a:p>
            <a:pPr marL="800065" lvl="1" indent="-342865">
              <a:lnSpc>
                <a:spcPct val="100000"/>
              </a:lnSpc>
              <a:spcBef>
                <a:spcPts val="300"/>
              </a:spcBef>
            </a:pPr>
            <a:r>
              <a:rPr lang="en-US" altLang="ja-JP" dirty="0"/>
              <a:t>Academic Session: Peer-reviewed papers published in ISPRS Archives</a:t>
            </a:r>
          </a:p>
          <a:p>
            <a:pPr marL="800065" lvl="1" indent="-342865">
              <a:lnSpc>
                <a:spcPct val="100000"/>
              </a:lnSpc>
              <a:spcBef>
                <a:spcPts val="300"/>
              </a:spcBef>
            </a:pPr>
            <a:r>
              <a:rPr lang="en-US" altLang="ja-JP" dirty="0"/>
              <a:t>Lightning Talks: 5-minute presentations</a:t>
            </a:r>
          </a:p>
          <a:p>
            <a:pPr marL="800065" lvl="1" indent="-342865">
              <a:lnSpc>
                <a:spcPct val="100000"/>
              </a:lnSpc>
              <a:spcBef>
                <a:spcPts val="300"/>
              </a:spcBef>
            </a:pPr>
            <a:r>
              <a:rPr lang="en-US" altLang="ja-JP" dirty="0"/>
              <a:t>Poster Session: Around 20 posters</a:t>
            </a:r>
          </a:p>
          <a:p>
            <a:pPr marL="800065" lvl="1" indent="-342865">
              <a:lnSpc>
                <a:spcPct val="100000"/>
              </a:lnSpc>
              <a:spcBef>
                <a:spcPts val="300"/>
              </a:spcBef>
            </a:pPr>
            <a:r>
              <a:rPr lang="en-US" altLang="ja-JP" dirty="0"/>
              <a:t>Interactive Demos: Showcasing practical applications of geospatial technologies</a:t>
            </a:r>
          </a:p>
          <a:p>
            <a:pPr marL="342865" indent="-342865">
              <a:lnSpc>
                <a:spcPct val="100000"/>
              </a:lnSpc>
              <a:spcBef>
                <a:spcPts val="600"/>
              </a:spcBef>
            </a:pPr>
            <a:r>
              <a:rPr lang="en-US" altLang="ja-JP" dirty="0"/>
              <a:t>Code Sprint: September 4-6</a:t>
            </a:r>
          </a:p>
          <a:p>
            <a:pPr marL="800065" lvl="1" indent="-342865">
              <a:lnSpc>
                <a:spcPct val="100000"/>
              </a:lnSpc>
              <a:spcBef>
                <a:spcPts val="0"/>
              </a:spcBef>
            </a:pPr>
            <a:r>
              <a:rPr lang="en-US" altLang="ja-JP" dirty="0"/>
              <a:t>Collaborative work by the community and FOSS4G developers</a:t>
            </a:r>
          </a:p>
        </p:txBody>
      </p:sp>
      <p:sp>
        <p:nvSpPr>
          <p:cNvPr id="240" name="Google Shape;240;p10">
            <a:extLst>
              <a:ext uri="{FF2B5EF4-FFF2-40B4-BE49-F238E27FC236}">
                <a16:creationId xmlns:a16="http://schemas.microsoft.com/office/drawing/2014/main" id="{C2D820BE-90CC-0513-FEE3-8DEF9D2650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90064" y="6513762"/>
            <a:ext cx="1184672" cy="332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</a:t>
            </a:fld>
            <a:endParaRPr/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1784303-FA2E-DEBE-D634-A1BD3B2CF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799" y="4396116"/>
            <a:ext cx="2117646" cy="21176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66FD4A-9392-923E-1DAE-C492E1B29BB6}"/>
              </a:ext>
            </a:extLst>
          </p:cNvPr>
          <p:cNvSpPr txBox="1"/>
          <p:nvPr/>
        </p:nvSpPr>
        <p:spPr>
          <a:xfrm>
            <a:off x="6734194" y="6393184"/>
            <a:ext cx="5056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FOSS4G 2026 Flyer ( will be updated)</a:t>
            </a:r>
            <a:endParaRPr lang="en-JP" dirty="0"/>
          </a:p>
        </p:txBody>
      </p:sp>
      <p:pic>
        <p:nvPicPr>
          <p:cNvPr id="4" name="Picture 3" descr="A building with glass windows and yellow flowers&#10;&#10;AI-generated content may be incorrect.">
            <a:extLst>
              <a:ext uri="{FF2B5EF4-FFF2-40B4-BE49-F238E27FC236}">
                <a16:creationId xmlns:a16="http://schemas.microsoft.com/office/drawing/2014/main" id="{828A8078-445F-389F-4417-8CB0E7C09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194" y="923564"/>
            <a:ext cx="5056857" cy="33712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4AC0BC-5DFF-240B-B78D-39A95A0E46A1}"/>
              </a:ext>
            </a:extLst>
          </p:cNvPr>
          <p:cNvSpPr txBox="1"/>
          <p:nvPr/>
        </p:nvSpPr>
        <p:spPr>
          <a:xfrm>
            <a:off x="7150100" y="4255384"/>
            <a:ext cx="4640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latin typeface="Zen Kurenaido"/>
              </a:rPr>
              <a:t>© </a:t>
            </a:r>
            <a:r>
              <a:rPr lang="en-US" altLang="ja-JP" sz="1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Hiroshima International Conference Center</a:t>
            </a:r>
            <a:endParaRPr lang="en-US" altLang="ja-JP" sz="1200" dirty="0"/>
          </a:p>
        </p:txBody>
      </p:sp>
    </p:spTree>
    <p:extLst>
      <p:ext uri="{BB962C8B-B14F-4D97-AF65-F5344CB8AC3E}">
        <p14:creationId xmlns:p14="http://schemas.microsoft.com/office/powerpoint/2010/main" val="2368941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343</Words>
  <Application>Microsoft Macintosh PowerPoint</Application>
  <PresentationFormat>Widescreen</PresentationFormat>
  <Paragraphs>48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Meiryo</vt:lpstr>
      <vt:lpstr>UD Digi Kyokasho NK-R</vt:lpstr>
      <vt:lpstr>Zen Kurenaido</vt:lpstr>
      <vt:lpstr>Aptos</vt:lpstr>
      <vt:lpstr>Aptos Display</vt:lpstr>
      <vt:lpstr>Arial</vt:lpstr>
      <vt:lpstr>Calibri</vt:lpstr>
      <vt:lpstr>Office Theme</vt:lpstr>
      <vt:lpstr>FOSS4G 2026 Hiroshima</vt:lpstr>
      <vt:lpstr>FOSS4G 2026 Hiroshima</vt:lpstr>
      <vt:lpstr>FOSS4G 2026 Hiroshima</vt:lpstr>
      <vt:lpstr>FOSS4G 2026 Hiroshima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岩崎　亘典</dc:creator>
  <cp:lastModifiedBy>岩崎　亘典</cp:lastModifiedBy>
  <cp:revision>4</cp:revision>
  <dcterms:created xsi:type="dcterms:W3CDTF">2025-03-20T00:27:16Z</dcterms:created>
  <dcterms:modified xsi:type="dcterms:W3CDTF">2025-03-20T02:27:35Z</dcterms:modified>
</cp:coreProperties>
</file>